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a7fe19b7c44fe8" /><Relationship Type="http://schemas.openxmlformats.org/officeDocument/2006/relationships/extended-properties" Target="/docProps/app.xml" Id="R10930313f7dc4eee" /><Relationship Type="http://schemas.openxmlformats.org/officeDocument/2006/relationships/officeDocument" Target="/ppt/presentation.xml" Id="Ra774f910be4746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bff72c80a3457e"/>
  </p:sldMasterIdLst>
  <p:notesMasterIdLst>
    <p:notesMasterId xmlns:r="http://schemas.openxmlformats.org/officeDocument/2006/relationships" r:id="Rd94cb91ae1014ce2"/>
  </p:notesMasterIdLst>
  <p:sldIdLst>
    <p:sldId xmlns:r="http://schemas.openxmlformats.org/officeDocument/2006/relationships" id="256" r:id="Rcf22641a87eb494c"/>
    <p:sldId xmlns:r="http://schemas.openxmlformats.org/officeDocument/2006/relationships" id="257" r:id="Rae8d2efa6b8240bc"/>
    <p:sldId xmlns:r="http://schemas.openxmlformats.org/officeDocument/2006/relationships" id="258" r:id="Ra81ec6d90bb84a19"/>
    <p:sldId xmlns:r="http://schemas.openxmlformats.org/officeDocument/2006/relationships" id="259" r:id="R4de2f1bda7ff4678"/>
    <p:sldId xmlns:r="http://schemas.openxmlformats.org/officeDocument/2006/relationships" id="260" r:id="Rc50ec62081a34e0f"/>
    <p:sldId xmlns:r="http://schemas.openxmlformats.org/officeDocument/2006/relationships" id="261" r:id="Rbf356ad800da4a4a"/>
    <p:sldId xmlns:r="http://schemas.openxmlformats.org/officeDocument/2006/relationships" id="262" r:id="Rabf14bb65ab8468a"/>
    <p:sldId xmlns:r="http://schemas.openxmlformats.org/officeDocument/2006/relationships" id="263" r:id="R92820685c59748a8"/>
    <p:sldId xmlns:r="http://schemas.openxmlformats.org/officeDocument/2006/relationships" id="264" r:id="R156b82b6b7f04ccd"/>
    <p:sldId xmlns:r="http://schemas.openxmlformats.org/officeDocument/2006/relationships" id="265" r:id="R5a521cdec0c544b4"/>
    <p:sldId xmlns:r="http://schemas.openxmlformats.org/officeDocument/2006/relationships" id="266" r:id="R9c81e51af8aa4a47"/>
    <p:sldId xmlns:r="http://schemas.openxmlformats.org/officeDocument/2006/relationships" id="267" r:id="R28fe9ec80fce4bd8"/>
    <p:sldId xmlns:r="http://schemas.openxmlformats.org/officeDocument/2006/relationships" id="268" r:id="R0f948f7a50a242b2"/>
    <p:sldId xmlns:r="http://schemas.openxmlformats.org/officeDocument/2006/relationships" id="269" r:id="R7fdc127a94d846fe"/>
    <p:sldId xmlns:r="http://schemas.openxmlformats.org/officeDocument/2006/relationships" id="270" r:id="R047155db950342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220e91fdf24157" /><Relationship Type="http://schemas.openxmlformats.org/officeDocument/2006/relationships/slideMaster" Target="/ppt/slideMasters/slideMaster1.xml" Id="Rebbff72c80a3457e" /><Relationship Type="http://schemas.openxmlformats.org/officeDocument/2006/relationships/notesMaster" Target="/ppt/notesMasters/notesMaster1.xml" Id="Rd94cb91ae1014ce2" /><Relationship Type="http://schemas.openxmlformats.org/officeDocument/2006/relationships/presProps" Target="/ppt/presProps.xml" Id="R2047c3fd8232494b" /><Relationship Type="http://schemas.openxmlformats.org/officeDocument/2006/relationships/tableStyles" Target="/ppt/tableStyles.xml" Id="R24262d927e014642" /><Relationship Type="http://schemas.openxmlformats.org/officeDocument/2006/relationships/slide" Target="/ppt/slides/slide1.xml" Id="Rcf22641a87eb494c" /><Relationship Type="http://schemas.openxmlformats.org/officeDocument/2006/relationships/slide" Target="/ppt/slides/slide2.xml" Id="Rae8d2efa6b8240bc" /><Relationship Type="http://schemas.openxmlformats.org/officeDocument/2006/relationships/slide" Target="/ppt/slides/slide3.xml" Id="Ra81ec6d90bb84a19" /><Relationship Type="http://schemas.openxmlformats.org/officeDocument/2006/relationships/slide" Target="/ppt/slides/slide4.xml" Id="R4de2f1bda7ff4678" /><Relationship Type="http://schemas.openxmlformats.org/officeDocument/2006/relationships/slide" Target="/ppt/slides/slide5.xml" Id="Rc50ec62081a34e0f" /><Relationship Type="http://schemas.openxmlformats.org/officeDocument/2006/relationships/slide" Target="/ppt/slides/slide6.xml" Id="Rbf356ad800da4a4a" /><Relationship Type="http://schemas.openxmlformats.org/officeDocument/2006/relationships/slide" Target="/ppt/slides/slide7.xml" Id="Rabf14bb65ab8468a" /><Relationship Type="http://schemas.openxmlformats.org/officeDocument/2006/relationships/slide" Target="/ppt/slides/slide8.xml" Id="R92820685c59748a8" /><Relationship Type="http://schemas.openxmlformats.org/officeDocument/2006/relationships/slide" Target="/ppt/slides/slide9.xml" Id="R156b82b6b7f04ccd" /><Relationship Type="http://schemas.openxmlformats.org/officeDocument/2006/relationships/slide" Target="/ppt/slides/slide10.xml" Id="R5a521cdec0c544b4" /><Relationship Type="http://schemas.openxmlformats.org/officeDocument/2006/relationships/slide" Target="/ppt/slides/slide11.xml" Id="R9c81e51af8aa4a47" /><Relationship Type="http://schemas.openxmlformats.org/officeDocument/2006/relationships/slide" Target="/ppt/slides/slide12.xml" Id="R28fe9ec80fce4bd8" /><Relationship Type="http://schemas.openxmlformats.org/officeDocument/2006/relationships/slide" Target="/ppt/slides/slide13.xml" Id="R0f948f7a50a242b2" /><Relationship Type="http://schemas.openxmlformats.org/officeDocument/2006/relationships/slide" Target="/ppt/slides/slide14.xml" Id="R7fdc127a94d846fe" /><Relationship Type="http://schemas.openxmlformats.org/officeDocument/2006/relationships/slide" Target="/ppt/slides/slide15.xml" Id="R047155db950342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d295867efe47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7b0480ebe745e9" /><Relationship Type="http://schemas.openxmlformats.org/officeDocument/2006/relationships/notesMaster" Target="/ppt/notesMasters/notesMaster1.xml" Id="R2c5f8ce28ffc44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1b406958634db2" /><Relationship Type="http://schemas.openxmlformats.org/officeDocument/2006/relationships/notesMaster" Target="/ppt/notesMasters/notesMaster1.xml" Id="R516c895458da42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c188a1da3f4be2" /><Relationship Type="http://schemas.openxmlformats.org/officeDocument/2006/relationships/notesMaster" Target="/ppt/notesMasters/notesMaster1.xml" Id="R022a1f582c464e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ad1edfe21a4ae0" /><Relationship Type="http://schemas.openxmlformats.org/officeDocument/2006/relationships/notesMaster" Target="/ppt/notesMasters/notesMaster1.xml" Id="Rda76d320053548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db579b46c04569" /><Relationship Type="http://schemas.openxmlformats.org/officeDocument/2006/relationships/notesMaster" Target="/ppt/notesMasters/notesMaster1.xml" Id="Re1406152cdda4f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1d1f76440241ff" /><Relationship Type="http://schemas.openxmlformats.org/officeDocument/2006/relationships/notesMaster" Target="/ppt/notesMasters/notesMaster1.xml" Id="Red565dd022224d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2b617475c24cbb" /><Relationship Type="http://schemas.openxmlformats.org/officeDocument/2006/relationships/notesMaster" Target="/ppt/notesMasters/notesMaster1.xml" Id="Re6494f51a84b4e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cfc425f7c64ec8" /><Relationship Type="http://schemas.openxmlformats.org/officeDocument/2006/relationships/notesMaster" Target="/ppt/notesMasters/notesMaster1.xml" Id="Rb21d93df50bb4b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d766a13e2042fb" /><Relationship Type="http://schemas.openxmlformats.org/officeDocument/2006/relationships/notesMaster" Target="/ppt/notesMasters/notesMaster1.xml" Id="Rd434b404df8a49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fb0ec2740f4dd9" /><Relationship Type="http://schemas.openxmlformats.org/officeDocument/2006/relationships/notesMaster" Target="/ppt/notesMasters/notesMaster1.xml" Id="R93db8fa90ee64d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fde4c0326d42a1" /><Relationship Type="http://schemas.openxmlformats.org/officeDocument/2006/relationships/notesMaster" Target="/ppt/notesMasters/notesMaster1.xml" Id="R1b72c0d104c144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1a65db93ab4acc" /><Relationship Type="http://schemas.openxmlformats.org/officeDocument/2006/relationships/notesMaster" Target="/ppt/notesMasters/notesMaster1.xml" Id="Re89caff4b25d47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cd953c076a4297" /><Relationship Type="http://schemas.openxmlformats.org/officeDocument/2006/relationships/notesMaster" Target="/ppt/notesMasters/notesMaster1.xml" Id="Rea4375592d2a45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1c4e50726e4820" /><Relationship Type="http://schemas.openxmlformats.org/officeDocument/2006/relationships/notesMaster" Target="/ppt/notesMasters/notesMaster1.xml" Id="R9f462778b8554c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0855af27ac431b" /><Relationship Type="http://schemas.openxmlformats.org/officeDocument/2006/relationships/notesMaster" Target="/ppt/notesMasters/notesMaster1.xml" Id="R782fb34090874d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30 秒。介绍项目定位：把闹钟与摄像头动作计数结合，完成指定运动后通过正常流程关闭铃声。接下来按为什么做、实现什么、如何实现和如何验证展开。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秒。普通闹钟容易关闭，关闭后可能继续入睡。项目尝试增加一个可见的运动任务，并用自动计数降低用户手动操作负担。这里只能说明设计意图，不能宣称已验证清醒或健康效果。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55 秒。沿主流程说明用户如何使用。运动挑战有三种动作，主界面显示画面、骨架、次数、进度与提示。重点解释达到次数和完成任务是两个事件，防止把达标说成自动停铃。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55 秒。沿数据流解释四层结构。后台将姿态交给统一动作接口，再通过信号更新界面和会话。CMake 构建 GUI 与独立调试程序，两者复用核心识别代码。架构图是职责示意，不代表严格分层依赖约束。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秒。七位掩码表示一周，0 表示单次，0x1F 为工作日，0x60 为周末，0x7F 为每天。遍历闹钟选择最近一次交给 AlarmManager，每 250 毫秒检查。稍后提醒延后触发，单次完成后停用。当前依赖应用进程运行。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55 秒。等比例缩放和填充避免拉伸人体。输入 640×640，转换 RGB 并归一化，OpenCV DNN 执行 ONNX 模型。低置信度过滤和 NMS 后选置信度最高的人，并还原坐标。33 点仅是内部编号接口，没有额外完整 33 点，也没有真实三维深度。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秒。指数移动平均让坐标更平稳，GUI 中 alpha 为 0.35，同时带来一定响应延迟。保留本帧置信度能防止历史坐标掩盖丢点。统一接口使采集、推理和动作选择解耦。图中数据纯属示意，不表示实测改善幅度。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 秒。膝角由髋、膝、踝计算，左右腿均可靠时取较小值，单侧可靠时使用该侧。先确认站直，避免初始蹲姿被直接计数。140 与 155 度形成缓冲区。当前确认帧数为 1，不能宣称已验证所有误计场景。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秒。图像 y 轴向下，肩 y 减腕 y 越大表示手腕越高。所有距离以肩宽归一化，降低拍摄距离的影响。完整合拢、展开、再次合拢才加一。算法没有检测离地，因此迈步举手也可能满足条件。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85 秒。这是最复杂的动作。A 是左右小腿投影长度的对数比，B 是左右膝 y 差除以平均小腿长度。初始收集变化范围后选归一化动态范围较大的信号，不能称为噪声最小的信号。根据基线与上下阈值判断左右相位。当前 EachPedal 每次切换计一，完整往返计两次。图仅示意信号跨阈值，真实计数还必须满足所有帧间隔约束。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55 秒。MotionWorker 迁移到 QThread，后台读取、推理、平滑、计数，以信号发送结果。原子标志控制暂停停止及待显示帧。framePending 限制积压，QImage copy 保证数据独立。摄像头暂停识别时仍预览，视频暂停则停止推进。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 秒。WorkoutSession 用 active 和 reached 门控计数，max 保证不倒退。首次达标停止识别并启用完成按钮，用户点击后停铃保存。sessionId 对应数据库唯一索引，避免重试重复记录。历史主要保存成功任务，因此不能据此计算完整成功率。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秒。铃声支持内置、自定义导入、试听、音量和删除。部分内置音频通过正弦波合成 WAV，QMediaPlayer 循环播放。页面用 QStackedWidget 管理，QPainter 和属性动画提供骨架、进度和次数反馈。展示时替换为实际截图。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 秒。已有测试代码覆盖会话、数据库迁移和去重、连续天数和成就以及闹钟调度。但当前材料没有执行结果。识别测试应固定视频并人工标注，对照 CSV 逐帧定位误计漏计，增加遮挡、幅度不足和角度变化场景。相同总次数也可能同时有误计和漏计，不能只看差值。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55 秒。总结完成的应用闭环、三种动作、后台识别和本地记录。技术亮点是模型关键点结合几何规则、蹬腿局部输入与标定、线程分离和业务去重。未来补充稳定人物跟踪、自适应标定、时间约束、带标注数据集和系统级运行支持。可在此后进行 30 秒左右的闭环演示。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内容依据：用户提供的制作大纲及《粘贴的 markdown (1)。md》静态代码分析。未独立运行程序。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e5fbdf36244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86f7959c174280" /><Relationship Type="http://schemas.openxmlformats.org/officeDocument/2006/relationships/slideLayout" Target="/ppt/slideLayouts/slideLayout1.xml" Id="R1f89cc2f705849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89cc2f705849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ea9d7bbaf4781" /><Relationship Type="http://schemas.openxmlformats.org/officeDocument/2006/relationships/notesSlide" Target="/ppt/notesSlides/notesSlide1.xml" Id="Rc4c586723b5b49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49d4c444c4f6b" /><Relationship Type="http://schemas.openxmlformats.org/officeDocument/2006/relationships/notesSlide" Target="/ppt/notesSlides/notesSlide2.xml" Id="R27a18b76244d4b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9fede69c744b3" /><Relationship Type="http://schemas.openxmlformats.org/officeDocument/2006/relationships/notesSlide" Target="/ppt/notesSlides/notesSlide3.xml" Id="R418c8074a15442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a4bc01cd0468d" /><Relationship Type="http://schemas.openxmlformats.org/officeDocument/2006/relationships/notesSlide" Target="/ppt/notesSlides/notesSlide4.xml" Id="R4b859c80d3ad4f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456db1b4444d8" /><Relationship Type="http://schemas.openxmlformats.org/officeDocument/2006/relationships/notesSlide" Target="/ppt/notesSlides/notesSlide5.xml" Id="R8467bbd7f9ee4c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e43c9ee5d44c8" /><Relationship Type="http://schemas.openxmlformats.org/officeDocument/2006/relationships/notesSlide" Target="/ppt/notesSlides/notesSlide6.xml" Id="R9f76e810198d40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32a5758ec48b6" /><Relationship Type="http://schemas.openxmlformats.org/officeDocument/2006/relationships/chart" Target="/ppt/slides/charts/chart1.xml" Id="R192fdad7eb4748a2" /><Relationship Type="http://schemas.openxmlformats.org/officeDocument/2006/relationships/notesSlide" Target="/ppt/notesSlides/notesSlide7.xml" Id="Rc403b9ac8d4b40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4281652b04e07" /><Relationship Type="http://schemas.openxmlformats.org/officeDocument/2006/relationships/notesSlide" Target="/ppt/notesSlides/notesSlide8.xml" Id="R950d9fe1f92c43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7ba5739e741e1" /><Relationship Type="http://schemas.openxmlformats.org/officeDocument/2006/relationships/notesSlide" Target="/ppt/notesSlides/notesSlide9.xml" Id="R85bf046612ad4f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e475455a348bd" /><Relationship Type="http://schemas.openxmlformats.org/officeDocument/2006/relationships/chart" Target="/ppt/slides/charts/chart2.xml" Id="R10de3413f74547ce" /><Relationship Type="http://schemas.openxmlformats.org/officeDocument/2006/relationships/notesSlide" Target="/ppt/notesSlides/notesSlide10.xml" Id="R848c23e2ddd945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87f33600f4db4" /><Relationship Type="http://schemas.openxmlformats.org/officeDocument/2006/relationships/notesSlide" Target="/ppt/notesSlides/notesSlide11.xml" Id="Rfa9458afd7c445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5cc9765e748bf" /><Relationship Type="http://schemas.openxmlformats.org/officeDocument/2006/relationships/notesSlide" Target="/ppt/notesSlides/notesSlide12.xml" Id="R209c50ce2b8940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07a6704b14b7f" /><Relationship Type="http://schemas.openxmlformats.org/officeDocument/2006/relationships/notesSlide" Target="/ppt/notesSlides/notesSlide13.xml" Id="R93c47837caaa48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b6847fd0d48d8" /><Relationship Type="http://schemas.openxmlformats.org/officeDocument/2006/relationships/notesSlide" Target="/ppt/notesSlides/notesSlide14.xml" Id="R5c33a6d099c742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356ca5da14a4d" /><Relationship Type="http://schemas.openxmlformats.org/officeDocument/2006/relationships/notesSlide" Target="/ppt/notesSlides/notesSlide15.xml" Id="R15585267e5524fc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平滑后</c:v>
          </c:tx>
          <c:spPr>
            <a:ln xmlns:a="http://schemas.openxmlformats.org/drawingml/2006/main" w="28575">
              <a:solidFill>
                <a:srgbClr val="008D80"/>
              </a:solidFill>
            </a:ln>
          </c:spPr>
          <c:marker>
            <c:symbol val="none"/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</c:numCache>
            </c:num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</c:v>
                </c:pt>
                <c:pt idx="1">
                  <c:v>0.21</c:v>
                </c:pt>
                <c:pt idx="2">
                  <c:v>0.1715</c:v>
                </c:pt>
                <c:pt idx="3">
                  <c:v>0.53148</c:v>
                </c:pt>
                <c:pt idx="4">
                  <c:v>0.59046</c:v>
                </c:pt>
                <c:pt idx="5">
                  <c:v>0.9088</c:v>
                </c:pt>
                <c:pt idx="6">
                  <c:v>0.97572</c:v>
                </c:pt>
                <c:pt idx="7">
                  <c:v>1.29922</c:v>
                </c:pt>
                <c:pt idx="8">
                  <c:v>1.33449</c:v>
                </c:pt>
                <c:pt idx="9">
                  <c:v>1.60242</c:v>
                </c:pt>
                <c:pt idx="10">
                  <c:v>1.67157</c:v>
                </c:pt>
                <c:pt idx="11">
                  <c:v>1.92652</c:v>
                </c:pt>
              </c:numCache>
            </c:numRef>
          </c:val>
        </c:ser>
        <c:ser>
          <c:idx val="1"/>
          <c:order val="1"/>
          <c:tx>
            <c:v>原始坐标</c:v>
          </c:tx>
          <c:spPr>
            <a:ln xmlns:a="http://schemas.openxmlformats.org/drawingml/2006/main" w="19050">
              <a:solidFill>
                <a:srgbClr val="98A9A4"/>
              </a:solidFill>
            </a:ln>
          </c:spPr>
          <c:marker>
            <c:symbol val="none"/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</c:numCache>
            </c:num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</c:v>
                </c:pt>
                <c:pt idx="1">
                  <c:v>0.6</c:v>
                </c:pt>
                <c:pt idx="2">
                  <c:v>0.1</c:v>
                </c:pt>
                <c:pt idx="3">
                  <c:v>1.2</c:v>
                </c:pt>
                <c:pt idx="4">
                  <c:v>0.7</c:v>
                </c:pt>
                <c:pt idx="5">
                  <c:v>1.5</c:v>
                </c:pt>
                <c:pt idx="6">
                  <c:v>1.1</c:v>
                </c:pt>
                <c:pt idx="7">
                  <c:v>1.9</c:v>
                </c:pt>
                <c:pt idx="8">
                  <c:v>1.4</c:v>
                </c:pt>
                <c:pt idx="9">
                  <c:v>2.1</c:v>
                </c:pt>
                <c:pt idx="10">
                  <c:v>1.8</c:v>
                </c:pt>
                <c:pt idx="11">
                  <c:v>2.4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SC"/>
                    <a:ea typeface="Noto Sans CJK SC"/>
                    <a:cs typeface="Noto Sans CJK SC"/>
                  </a:rPr>
                  <a:t>帧序号（示意）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5D8D2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AF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7FAF9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所选信号</c:v>
          </c:tx>
          <c:spPr>
            <a:ln xmlns:a="http://schemas.openxmlformats.org/drawingml/2006/main" w="28575">
              <a:solidFill>
                <a:srgbClr val="008D80"/>
              </a:solidFill>
            </a:ln>
          </c:spPr>
          <c:marker>
            <c:symbol val="none"/>
          </c:marker>
          <c:cat>
            <c:numRef>
              <c:f>'Chart Data'!$A$2:$A$17</c:f>
              <c:numCache>
                <c:formatCode>General</c:formatCod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numCache>
            </c:numRef>
          </c:cat>
          <c:val>
            <c:numRef>
              <c:f>'Chart Data'!$B$2:$B$17</c:f>
              <c:numCache>
                <c:formatCode>General</c:formatCode>
                <c:ptCount val="16"/>
                <c:pt idx="0">
                  <c:v>0</c:v>
                </c:pt>
                <c:pt idx="1">
                  <c:v>0.25</c:v>
                </c:pt>
                <c:pt idx="2">
                  <c:v>0.7</c:v>
                </c:pt>
                <c:pt idx="3">
                  <c:v>0.85</c:v>
                </c:pt>
                <c:pt idx="4">
                  <c:v>0.65</c:v>
                </c:pt>
                <c:pt idx="5">
                  <c:v>0.1</c:v>
                </c:pt>
                <c:pt idx="6">
                  <c:v>-0.5</c:v>
                </c:pt>
                <c:pt idx="7">
                  <c:v>-0.8</c:v>
                </c:pt>
                <c:pt idx="8">
                  <c:v>-0.7</c:v>
                </c:pt>
                <c:pt idx="9">
                  <c:v>-0.2</c:v>
                </c:pt>
                <c:pt idx="10">
                  <c:v>0.5</c:v>
                </c:pt>
                <c:pt idx="11">
                  <c:v>0.9</c:v>
                </c:pt>
                <c:pt idx="12">
                  <c:v>0.7</c:v>
                </c:pt>
                <c:pt idx="13">
                  <c:v>0.1</c:v>
                </c:pt>
                <c:pt idx="14">
                  <c:v>-0.6</c:v>
                </c:pt>
                <c:pt idx="15">
                  <c:v>-0.85</c:v>
                </c:pt>
              </c:numCache>
            </c:numRef>
          </c:val>
        </c:ser>
        <c:ser>
          <c:idx val="1"/>
          <c:order val="1"/>
          <c:tx>
            <c:v>基线</c:v>
          </c:tx>
          <c:spPr>
            <a:ln xmlns:a="http://schemas.openxmlformats.org/drawingml/2006/main" w="19050">
              <a:solidFill>
                <a:srgbClr val="98A9A4"/>
              </a:solidFill>
            </a:ln>
          </c:spPr>
          <c:marker>
            <c:symbol val="none"/>
          </c:marker>
          <c:cat>
            <c:numRef>
              <c:f>'Chart Data'!$C$2:$C$17</c:f>
              <c:numCache>
                <c:formatCode>General</c:formatCod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numCache>
            </c:numRef>
          </c:cat>
          <c:val>
            <c:numRef>
              <c:f>'Chart Data'!$D$2:$D$17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</c:ser>
        <c:ser>
          <c:idx val="2"/>
          <c:order val="2"/>
          <c:tx>
            <c:v>上阈值</c:v>
          </c:tx>
          <c:spPr>
            <a:ln xmlns:a="http://schemas.openxmlformats.org/drawingml/2006/main" w="19050">
              <a:solidFill>
                <a:srgbClr val="A26C24"/>
              </a:solidFill>
            </a:ln>
          </c:spPr>
          <c:marker>
            <c:symbol val="none"/>
          </c:marker>
          <c:cat>
            <c:numRef>
              <c:f>'Chart Data'!$E$2:$E$17</c:f>
              <c:numCache>
                <c:formatCode>General</c:formatCod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numCache>
            </c:numRef>
          </c:cat>
          <c:val>
            <c:numRef>
              <c:f>'Chart Data'!$F$2:$F$17</c:f>
              <c:numCache>
                <c:formatCode>General</c:formatCode>
                <c:ptCount val="16"/>
                <c:pt idx="0">
                  <c:v>0.4</c:v>
                </c:pt>
                <c:pt idx="1">
                  <c:v>0.4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</c:numCache>
            </c:numRef>
          </c:val>
        </c:ser>
        <c:ser>
          <c:idx val="3"/>
          <c:order val="3"/>
          <c:tx>
            <c:v>下阈值</c:v>
          </c:tx>
          <c:spPr>
            <a:ln xmlns:a="http://schemas.openxmlformats.org/drawingml/2006/main" w="19050">
              <a:solidFill>
                <a:srgbClr val="758B84"/>
              </a:solidFill>
            </a:ln>
          </c:spPr>
          <c:marker>
            <c:symbol val="none"/>
          </c:marker>
          <c:cat>
            <c:numRef>
              <c:f>'Chart Data'!$G$2:$G$17</c:f>
              <c:numCache>
                <c:formatCode>General</c:formatCod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numCache>
            </c:numRef>
          </c:cat>
          <c:val>
            <c:numRef>
              <c:f>'Chart Data'!$H$2:$H$17</c:f>
              <c:numCache>
                <c:formatCode>General</c:formatCode>
                <c:ptCount val="16"/>
                <c:pt idx="0">
                  <c:v>-0.4</c:v>
                </c:pt>
                <c:pt idx="1">
                  <c:v>-0.4</c:v>
                </c:pt>
                <c:pt idx="2">
                  <c:v>-0.4</c:v>
                </c:pt>
                <c:pt idx="3">
                  <c:v>-0.4</c:v>
                </c:pt>
                <c:pt idx="4">
                  <c:v>-0.4</c:v>
                </c:pt>
                <c:pt idx="5">
                  <c:v>-0.4</c:v>
                </c:pt>
                <c:pt idx="6">
                  <c:v>-0.4</c:v>
                </c:pt>
                <c:pt idx="7">
                  <c:v>-0.4</c:v>
                </c:pt>
                <c:pt idx="8">
                  <c:v>-0.4</c:v>
                </c:pt>
                <c:pt idx="9">
                  <c:v>-0.4</c:v>
                </c:pt>
                <c:pt idx="10">
                  <c:v>-0.4</c:v>
                </c:pt>
                <c:pt idx="11">
                  <c:v>-0.4</c:v>
                </c:pt>
                <c:pt idx="12">
                  <c:v>-0.4</c:v>
                </c:pt>
                <c:pt idx="13">
                  <c:v>-0.4</c:v>
                </c:pt>
                <c:pt idx="14">
                  <c:v>-0.4</c:v>
                </c:pt>
                <c:pt idx="15">
                  <c:v>-0.4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SC"/>
                    <a:ea typeface="Noto Sans CJK SC"/>
                    <a:cs typeface="Noto Sans CJK SC"/>
                  </a:rPr>
                  <a:t>帧序号（示意）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5D8D2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AF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7FAF9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3B3F1-02DA-4BE3-8D5C-56523B82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WakeAI 智能运动唤醒助手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D5F4F-F2CA-4A34-A905-89E1876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基于人体姿态识别的运动闹钟系统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7CA00-6283-4646-A911-280D0907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55136-6479-4E35-848F-A9011B2C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01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1CAAA-14C1-4677-B2FF-BED2CD4B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657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用一组运动，</a:t>
            </a:r>
          </a:p>
          <a:p xmlns:a="http://schemas.openxmlformats.org/drawingml/2006/main">
            <a:pPr>
              <a:defRPr sz="32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完成一次清醒的开始。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1042A-4556-44F0-8A6F-3DE26B76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C++17   /   Qt   /   OpenCV</a:t>
            </a:r>
          </a:p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YOLO Pose   /   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31FE1-C6AA-4F69-9629-25190BD2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课程：[待填写]    姓名：[待填写]    学号：[待填写]</a:t>
            </a:r>
          </a:p>
          <a:p xmlns:a="http://schemas.openxmlformats.org/drawingml/2006/main">
            <a:pPr>
              <a:defRPr sz="157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班级：[待填写]    指导教师：[待填写]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3017B-B229-4031-AC63-75866F2E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9052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0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真实截图待补充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项目首页或运动识别界面</a:t>
            </a:r>
          </a:p>
        </p:txBody>
      </p:sp>
    </p:spTree>
    <p:extLst>
      <p:ext uri="{BB962C8B-B14F-4D97-AF65-F5344CB8AC3E}">
        <p14:creationId xmlns:p14="http://schemas.microsoft.com/office/powerpoint/2010/main" val="166084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C620A-76D9-4737-82A1-08110AB1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项目背景与设计目标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D7527-05DF-45E3-8B61-A16AD1FB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把关闭闹钟与运动任务关联，增加起床后的主动参与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D59DE-CD46-4F8C-9163-BB264D56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6707C-A378-44DB-9B0B-34FFCC3D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02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EC7FD-4E97-4D64-82BA-F87DEB6E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使用场景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52105-6C96-481B-B127-3C399C99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铃声可以快速关闭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用户可能继续入睡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94500-DC7A-4ABB-A23B-70E671DB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设计目标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724B9-588E-4C1D-BBAE-D3222F22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灵活设置闹钟，自动统计动作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保存完成记录，提供持续反馈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5356F-4758-4BDF-A8D7-5F0E6EBF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响铃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79966-1F44-4EE1-8F49-9F8F8439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052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完成运动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36132-7891-45D7-ACC3-91A9CFED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9052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达到目标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8D337-BEAE-4742-B2F2-73DEE27F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052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点击关闭</a:t>
            </a:r>
          </a:p>
        </p:txBody>
      </p: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62300" y="4381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34075" y="4381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05850" y="4381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A5185-D988-450B-A925-C775D6C9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864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rPr>
              <a:t>功能边界：运动唤醒辅助工具，实际唤醒效果仍需用户体验验证。</a:t>
            </a:r>
          </a:p>
        </p:txBody>
      </p:sp>
    </p:spTree>
    <p:extLst>
      <p:ext uri="{BB962C8B-B14F-4D97-AF65-F5344CB8AC3E}">
        <p14:creationId xmlns:p14="http://schemas.microsoft.com/office/powerpoint/2010/main" val="1006650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123F9-3C73-47E9-A5FB-2FF0B6C9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功能总览与使用流程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14CF2-039C-48C2-8D8F-8ACB666C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达标后点击完成，才会停止铃声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89B55-0A54-4408-9B55-0AE8F15F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E5381-C950-4FA8-A104-FF7E32FD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03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DD53F-8FBA-4D63-9939-C0F5573B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25431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设置闹钟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2CB92-2286-4484-81B6-5096A93E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05000"/>
            <a:ext cx="25431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到时响铃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143C9-8B3B-4374-BAEF-BC3E29F2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05000"/>
            <a:ext cx="25431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开始识别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63515-F81D-427B-87CC-5EA2E41F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0"/>
            <a:ext cx="25431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达到目标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2300" y="22764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34075" y="22764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05850" y="22764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55F7F-1803-47A9-A2B3-DA150181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86100"/>
            <a:ext cx="21177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点击完成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60B12-07FA-43B3-987A-606D7494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75" y="3086100"/>
            <a:ext cx="21177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停铃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63CA3-6FDC-4545-8C85-9329DB89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086100"/>
            <a:ext cx="21177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保存记录</a:t>
            </a:r>
          </a:p>
        </p:txBody>
      </p:sp>
      <p:cxnSp>
        <p:nvCxnSpPr>
          <p:cNvPr id="3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84975" y="34385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131300" y="34385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2C863-1DD5-4AE7-BE01-370E07FF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深蹲  /  开合跳  /  床上蹬腿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E266F-36A5-4D2B-ABBC-0AF54015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闹钟与音频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F436F-ED73-4CC7-A08A-F70244EB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新增、编辑、删除、启停、重复日期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稍后提醒、铃声导入、试听与音量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68A72-BC5F-4747-9D74-8AF68DAC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持续反馈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15F13-285F-41FF-89DD-FAD36ECA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33925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历史记录、连续完成天数、成就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实时次数与目标进度</a:t>
            </a:r>
          </a:p>
        </p:txBody>
      </p:sp>
    </p:spTree>
    <p:extLst>
      <p:ext uri="{BB962C8B-B14F-4D97-AF65-F5344CB8AC3E}">
        <p14:creationId xmlns:p14="http://schemas.microsoft.com/office/powerpoint/2010/main" val="206754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7669E-3386-438B-B48C-47686118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系统架构与技术选型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8211C-6EE8-445D-BD3F-8506EF7C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界面、识别、动作规则与系统服务分开组织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8986D-5030-411E-A93E-B81DC884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1EB0C-3BA9-43B2-A8D7-EA894A76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04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2B60B-0994-45A2-907D-7CDC8FFF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界面层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B6952-CFE6-4A76-8E41-79A298DB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52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Qt Widgets · MainWindow · CameraView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C052B-3686-4857-9BB2-6DFE42CD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识别层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58F7D-A766-44CE-9368-D6B3BF41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670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MotionWorker · PoseDetector · PoseSmoother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E8AE7-04B3-4A8C-A7A5-BE7FB075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动作层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501D6-984E-4058-9731-5784DDF5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814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Squat · JumpingJack · Cycling · WorkoutSession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B6672-5484-424D-A9DC-C693E2ED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系统层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F6B5A-0F8B-480C-A234-8BDFF285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958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AlarmManager · DatabaseManager · AchievementEngine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A404E-DC7C-48CA-A7BD-67AC3F7A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C++17 实现逻辑    Qt 协调界面/线程/音频    OpenCV DNN 推理    SQLite 存储</a:t>
            </a:r>
          </a:p>
        </p:txBody>
      </p:sp>
    </p:spTree>
    <p:extLst>
      <p:ext uri="{BB962C8B-B14F-4D97-AF65-F5344CB8AC3E}">
        <p14:creationId xmlns:p14="http://schemas.microsoft.com/office/powerpoint/2010/main" val="1776824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37C11-FFA1-421D-93E5-25775988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闹钟调度与任务状态管理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63F5B-81DD-43AB-AA29-E671C53B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统一调度最近事件，状态检查避免重复触发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5CF96-76B5-493E-B62E-807B36ED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56DDB-E67E-4EED-BD39-FB374D2B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05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22D01-02B5-4093-B2F5-88D1001B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9888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Idle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13E70-785B-41DF-B587-E424824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545" y="1924050"/>
            <a:ext cx="19888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Ringing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A7F91-0679-4FC4-8480-57D67020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965" y="1924050"/>
            <a:ext cx="19888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Preparing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2E445-E4ED-43C0-9085-2E28682A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385" y="1924050"/>
            <a:ext cx="19888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Exercising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346D2-4916-4C6B-9038-78959ACE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805" y="1924050"/>
            <a:ext cx="19888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Done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07945" y="22669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25365" y="22669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42785" y="22669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60205" y="22669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36248-D7A0-4F34-BF49-60E3CA06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05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到时触发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33C7F-110C-4158-8588-C1D386CE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051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达标后点击完成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7DE27-93DA-4057-9385-2B3A7173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147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调度规则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438F4-0177-40B7-8FE1-52189331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七位掩码保存重复日期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遍历闹钟，选择最近触发时间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每 250 ms 检查一次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3F137-45E3-4E2E-B8F0-C174CE5A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33750"/>
            <a:ext cx="5334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A13BB-E617-4249-B994-668F7B77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8615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if (now &lt; next_) return;</a:t>
            </a:r>
          </a:p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ringing_ = true;</a:t>
            </a:r>
          </a:p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completed_ = false;</a:t>
            </a:r>
          </a:p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emit alarmTriggered();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978FE-0FEC-4CBD-A81C-8B2528DD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244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代码节选（now 代表当前时间）</a:t>
            </a:r>
          </a:p>
          <a:p xmlns:a="http://schemas.openxmlformats.org/drawingml/2006/main">
            <a:pPr>
              <a:defRPr sz="157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时间判断 → 更新状态 → 信号通知界面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206F40-C0FD-4B1A-8772-5F84C439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稍后提醒延后触发；单次闹钟完成后停用。</a:t>
            </a:r>
          </a:p>
        </p:txBody>
      </p:sp>
    </p:spTree>
    <p:extLst>
      <p:ext uri="{BB962C8B-B14F-4D97-AF65-F5344CB8AC3E}">
        <p14:creationId xmlns:p14="http://schemas.microsoft.com/office/powerpoint/2010/main" val="971675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D108E-6DDE-4A9C-9000-76D8939F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人体姿态识别流程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75889-1C35-43E7-97C4-491E6C79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模型提取 17 个关键点，后续规则负责动作计数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65016-CCEC-4F65-9AC1-1A3A51D7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8C7FB-5087-47BF-B62A-A8BB9188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06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2A373-39A1-4F21-8F7B-E658B386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读取画面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DF508-58E7-4A06-BBFA-1688AE17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640×640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缩放与填充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67C0D-1965-47B1-90BA-C4BC0E7D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240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RGB / 归一化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AE466-5927-4E8D-B08A-80979136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YOLO Pose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2300" y="24003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34075" y="24003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05850" y="24003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C56C5-0EB9-4037-9372-F35CD3B2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52800"/>
            <a:ext cx="3467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置信度过滤 / NMS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A763B-7E72-490C-B9BA-042EAB15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52800"/>
            <a:ext cx="3467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选择置信度最高的人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639DE-8330-46E6-A15D-9E0E2DDC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52800"/>
            <a:ext cx="3467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还原 17 点坐标</a:t>
            </a:r>
          </a:p>
        </p:txBody>
      </p:sp>
      <p:cxnSp>
        <p:nvCxnSpPr>
          <p:cNvPr id="3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86225" y="37242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781925" y="37242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32A4B-AB89-4913-9B07-8CF7948E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91050"/>
            <a:ext cx="723900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88845-0E41-47C5-8F1A-EB7CF4B3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43450"/>
            <a:ext cx="685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net_ = cv::dnn::readNetFromONNX(modelPath);</a:t>
            </a:r>
          </a:p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net_.setInput(blob);</a:t>
            </a:r>
          </a:p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cv::Mat output = net_.forward();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1E99C-2642-4F2F-B174-721B7953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38675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rPr>
              <a:t>内部使用 33 点编号接口</a:t>
            </a:r>
          </a:p>
          <a:p xmlns:a="http://schemas.openxmlformats.org/drawingml/2006/main">
            <a:pPr>
              <a:defRPr sz="1725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rPr>
              <a:t>实际来自 YOLO 的 17 点</a:t>
            </a:r>
          </a:p>
          <a:p xmlns:a="http://schemas.openxmlformats.org/drawingml/2006/main">
            <a:pPr>
              <a:defRPr sz="1725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rPr>
              <a:t>多人场景可能切换对象</a:t>
            </a:r>
          </a:p>
        </p:txBody>
      </p:sp>
    </p:spTree>
    <p:extLst>
      <p:ext uri="{BB962C8B-B14F-4D97-AF65-F5344CB8AC3E}">
        <p14:creationId xmlns:p14="http://schemas.microsoft.com/office/powerpoint/2010/main" val="13261934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DBE61-3908-489E-A8B0-81F15E0E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关键点平滑与统一动作接口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B2990-3272-4546-A663-79372CE7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坐标做平滑，置信度保留本帧值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6C91F-EDA5-4974-823F-27473DD9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5A6E8-55C1-42AB-AFCE-B8D11832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07 / 15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71500" y="2019300"/>
          <a:ext xmlns:a="http://schemas.openxmlformats.org/drawingml/2006/main" cx="6096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2fdad7eb4748a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B6333-D811-4043-AB3E-83ACB942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rPr>
              <a:t>平滑曲线示意，非实测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44C3C-B022-49FF-AF6F-6559C0E1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600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95355-E6C0-47C1-98A3-5D83A5D9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7210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history.x = 0.35f * current.x</a:t>
            </a:r>
          </a:p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          + 0.65f * history.x;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32112-2D34-4DB0-8177-22DFBC4E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4238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ExerciseBase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update / count / valid / reset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E3F76-A2BB-496A-8A12-ED19CAF8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05250"/>
            <a:ext cx="1381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Squat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14E8D-2C6A-477A-AB12-DC06365D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052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JumpingJack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62DDE-F643-4680-B6BA-87810C80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9052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Cycling</a:t>
            </a:r>
          </a:p>
        </p:txBody>
      </p:sp>
      <p:cxnSp>
        <p:nvCxnSpPr>
          <p:cNvPr id="29" name=""/>
          <p:cNvCxnSpPr>
            <a:stCxn xmlns:a="http://schemas.openxmlformats.org/drawingml/2006/main" id="10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7710488" y="2981325"/>
            <a:ext cx="1552575" cy="923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11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9263063" y="2981325"/>
            <a:ext cx="147638" cy="923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2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9263063" y="2981325"/>
            <a:ext cx="1757363" cy="923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DA958-EE59-4E90-9559-4D7BCE69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863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共享输入与接口</a:t>
            </a:r>
          </a:p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分别维护特征、状态和次数</a:t>
            </a:r>
          </a:p>
        </p:txBody>
      </p:sp>
    </p:spTree>
    <p:extLst>
      <p:ext uri="{BB962C8B-B14F-4D97-AF65-F5344CB8AC3E}">
        <p14:creationId xmlns:p14="http://schemas.microsoft.com/office/powerpoint/2010/main" val="8201304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0F508-ED92-43EF-BF66-D135C870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深蹲计数：膝角与状态机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52A6D-C59C-4AFD-9F66-8A1539BA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站直、下蹲、重新站直，完整往返计一次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F8383-A31E-4C46-B87F-4A6F9E83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B7784-47CA-4128-8A6E-03420D4E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08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98418-7ED7-4C5A-88F2-5F5F5647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3467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先确认站直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θ &gt; 155°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4B7D6-0891-4101-B74E-F4E03670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09775"/>
            <a:ext cx="3467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下蹲 Down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θ &lt; 140°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F70DB-B0E3-435A-96A5-1FFE528E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09775"/>
            <a:ext cx="3467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恢复 Ready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θ &gt; 155°，次数 +1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86225" y="25812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81925" y="25812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915F7-FD07-43CB-A4E1-6BF82534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输入与几何关系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C1070-7C94-4371-A49B-DA1E6A33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髋、膝、踝形成膝关节夹角 θ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两腿均有效时选择较小角度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140°～155°保留状态缓冲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4EA9C-2A91-48CD-ADD1-FD3390DB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334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FB47B-7DD4-45DB-BFAC-4362C539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671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if (state == Ready &amp;&amp; angle &lt; 140)</a:t>
            </a:r>
          </a:p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    state = Down;</a:t>
            </a:r>
          </a:p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if (state == Down &amp;&amp; angle &gt; 155) {</a:t>
            </a:r>
          </a:p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    ++count;</a:t>
            </a:r>
          </a:p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    state = Ready;</a:t>
            </a:r>
          </a:p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EC54A-7E6E-43AE-B7A8-24D4B992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293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逻辑简化，省略初始化与有效性检查</a:t>
            </a:r>
          </a:p>
        </p:txBody>
      </p:sp>
    </p:spTree>
    <p:extLst>
      <p:ext uri="{BB962C8B-B14F-4D97-AF65-F5344CB8AC3E}">
        <p14:creationId xmlns:p14="http://schemas.microsoft.com/office/powerpoint/2010/main" val="21328558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DB1B1-1AAF-413C-839A-3F3A385D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开合跳计数：手脚联合判定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78D8E-6080-43C7-8BBC-F20964F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双臂和双腿同时满足条件，才进入展开状态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884F9-1C53-4BA4-A7DA-C7998734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09B25-2808-4013-B5D6-FDCDBE32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09 / 15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108585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2952750"/>
                <a:gridCol w="2952750"/>
              </a:tblGrid>
              <a:tr h="6096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特征</a:t>
                      </a:r>
                    </a:p>
                  </a:txBody>
                  <a:tcPr marL="91440" marR="91440" marT="45720" marB="45720">
                    <a:solidFill>
                      <a:srgbClr val="008D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展开</a:t>
                      </a:r>
                    </a:p>
                  </a:txBody>
                  <a:tcPr marL="91440" marR="91440" marT="45720" marB="45720">
                    <a:solidFill>
                      <a:srgbClr val="008D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合拢</a:t>
                      </a:r>
                    </a:p>
                  </a:txBody>
                  <a:tcPr marL="91440" marR="91440" marT="45720" marB="45720">
                    <a:solidFill>
                      <a:srgbClr val="008D8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双臂抬升 / 肩宽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两侧均 &gt; 0.45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两侧均 &lt; −0.25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脚踝间距 / 肩宽</a:t>
                      </a:r>
                    </a:p>
                  </a:txBody>
                  <a:tcPr marL="91440" marR="91440" marT="45720" marB="45720">
                    <a:solidFill>
                      <a:srgbClr val="E2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&gt; 1.25</a:t>
                      </a:r>
                    </a:p>
                  </a:txBody>
                  <a:tcPr marL="91440" marR="91440" marT="45720" marB="45720">
                    <a:solidFill>
                      <a:srgbClr val="E2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&lt; 0.75</a:t>
                      </a:r>
                    </a:p>
                  </a:txBody>
                  <a:tcPr marL="91440" marR="91440" marT="45720" marB="45720">
                    <a:solidFill>
                      <a:srgbClr val="E2F2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02516-7B3B-4913-A4A5-39D2BDAF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34671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合拢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9225B-1BFA-4F1C-B524-5B889546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48125"/>
            <a:ext cx="34671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展开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005AE-F5B2-45D6-B051-27C053FF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48125"/>
            <a:ext cx="34671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再次合拢，次数 +1</a:t>
            </a:r>
          </a:p>
        </p:txBody>
      </p: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86225" y="441483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81925" y="441483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42F6C-5670-43B9-B19B-555A5A4F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抬升比例 =（肩 y − 腕 y）/ 肩宽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8BCDD-F4C5-4FB3-8656-D8C08BEF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rPr>
              <a:t>识别开合姿态循环，未单独检测双脚是否离地。</a:t>
            </a:r>
          </a:p>
        </p:txBody>
      </p:sp>
    </p:spTree>
    <p:extLst>
      <p:ext uri="{BB962C8B-B14F-4D97-AF65-F5344CB8AC3E}">
        <p14:creationId xmlns:p14="http://schemas.microsoft.com/office/powerpoint/2010/main" val="10914806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E72D5-73EA-49FD-8939-0093E545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床上蹬腿：二维信号与自动标定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16D3D-25F3-4F9D-8737-7E79E337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膝、踝提供主要特征，每次稳定左右切换计一次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3F28D-B930-4F59-81CD-E8E1E355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AB69F-F3B3-4ADB-B56F-C72D2FF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10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6B50B-5084-4B90-AE66-ECB3348B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A = log（左小腿投影长度 / 右小腿投影长度）</a:t>
            </a:r>
          </a:p>
          <a:p xmlns:a="http://schemas.openxmlformats.org/drawingml/2006/main">
            <a:pPr>
              <a:defRPr sz="18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B =（左膝 y − 右膝 y）/ 平均小腿长度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3019425"/>
          <a:ext xmlns:a="http://schemas.openxmlformats.org/drawingml/2006/main" cx="6715125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de3413f74547c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7FF57-EDAE-4B34-A71D-70AA9D56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rPr>
              <a:t>算法示意，非实测；信号为二维变化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8002D-00E3-4046-A75E-CBCA2B4B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384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自动标定与防误计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93D40-1811-476B-9269-2DC6F3C6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86150"/>
            <a:ext cx="371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选择归一化动态范围较大的信号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2 帧确认，稳定相位间隔 ≥ 8 帧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两次计数间隔 ≥ 10 帧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触发阈值设下限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45339-5824-4063-BEF8-E33FB4C7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4350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髋点仅辅助显示</a:t>
            </a:r>
          </a:p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不作为计数必需条件</a:t>
            </a:r>
          </a:p>
        </p:txBody>
      </p:sp>
    </p:spTree>
    <p:extLst>
      <p:ext uri="{BB962C8B-B14F-4D97-AF65-F5344CB8AC3E}">
        <p14:creationId xmlns:p14="http://schemas.microsoft.com/office/powerpoint/2010/main" val="2420335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B093D-E906-4BA9-BF92-C7E44BB7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后台识别与实时界面反馈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DFB0C-EF89-4D4B-B887-31F1F425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耗时识别放在后台，主线程负责交互和显示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0CE7E-234E-43C9-8CCD-88E8E415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D96A7-240B-4BEA-AD81-E066F5AA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11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9E913-9139-43DD-9762-0FB579A6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286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主线程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MainWindow / CameraView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59E2C-F682-43DB-BEA6-B6D9F695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4524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识别线程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MotionWorker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05375" y="2405063"/>
            <a:ext cx="2047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64DB4-CC7D-462C-B6CF-4A03286E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811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启动 / 暂停 / 停止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37A69-33EC-4120-977E-EF058451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4286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页面与按钮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画面、次数、进度、错误提示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85129-8EED-4FC9-95AF-14FD313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4524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视频读取 → 推理 → 平滑 → 计数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发送画面、次数、有效性与错误</a:t>
            </a:r>
          </a:p>
        </p:txBody>
      </p:sp>
      <p:cxnSp>
        <p:nvCxnSpPr>
          <p:cNvPr id="25" name=""/>
          <p:cNvCxnSpPr>
            <a:stCxn xmlns:a="http://schemas.openxmlformats.org/drawingml/2006/main" id="10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4905375" y="4186238"/>
            <a:ext cx="2047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16BC1-D82C-42A5-B357-305C8FA3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1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Qt 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55B55-84E8-4212-A6A4-6A2899ED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原子标志限制待显示帧，避免预览事件积压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6370C-A3BD-4015-93DA-A7BD474F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245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暂停：摄像头继续预览；测试视频停止推进。</a:t>
            </a:r>
          </a:p>
        </p:txBody>
      </p:sp>
    </p:spTree>
    <p:extLst>
      <p:ext uri="{BB962C8B-B14F-4D97-AF65-F5344CB8AC3E}">
        <p14:creationId xmlns:p14="http://schemas.microsoft.com/office/powerpoint/2010/main" val="21186043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B8EE7-154B-4D81-9052-2B0D9884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达标控制、记录与成就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4BB02-1507-462F-8CB2-593D4870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达标只触发一次，保存重试不重复累计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2DE75-3BEA-4753-B417-35E138C5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E9A2F-F119-4889-A430-F3DD83F7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12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C3312-189D-4A16-8555-E6EB2C9C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达到目标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停止识别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07B7F-8E8D-4009-844B-BCC60868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点击完成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停止铃声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B8918-6C8D-4BEA-BFBD-C3302B2E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240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sessionId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保存去重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4CC6D-7841-4ED5-BC38-8CB7D13D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2543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统计与成就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累计反馈</a:t>
            </a:r>
          </a:p>
        </p:txBody>
      </p: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2300" y="24003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34075" y="24003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05850" y="24003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D80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EA43C-617B-4FAC-8475-22D201E7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0858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E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6D896-8D38-43B4-95A3-6A1B8492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8140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if (!active_ || reached_) return false;</a:t>
            </a:r>
          </a:p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count_ = std::max(count_, std::max(0, value));</a:t>
            </a:r>
          </a:p>
          <a:p xmlns:a="http://schemas.openxmlformats.org/drawingml/2006/main">
            <a:pPr>
              <a:def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// 首次达到目标时标记 reached_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D9D5F-CBE6-4D17-931D-4EDBCD88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五项成就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6BEB9-ABE7-463A-B8EE-F6D8630A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10150"/>
            <a:ext cx="8334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首次成功     连续 3 天     连续 7 天</a:t>
            </a:r>
          </a:p>
          <a:p xmlns:a="http://schemas.openxmlformats.org/drawingml/2006/main">
            <a:pPr>
              <a:defRPr sz="2025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累计 100 个动作     累计成功 30 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92910-996B-4564-AC2C-814FAE6B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rPr>
              <a:t>记录的是任务完成情况，不能直接等同于实际早起或唤醒效果。</a:t>
            </a:r>
          </a:p>
        </p:txBody>
      </p:sp>
    </p:spTree>
    <p:extLst>
      <p:ext uri="{BB962C8B-B14F-4D97-AF65-F5344CB8AC3E}">
        <p14:creationId xmlns:p14="http://schemas.microsoft.com/office/powerpoint/2010/main" val="19841615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2F138-3FDB-4B86-BD07-7B775853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铃声管理与交互设计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DB7B1-7260-4DEA-959C-4F631C38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设置、反馈与个性化功能共同支持完整使用过程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26F76-DE64-4BD0-9BE8-9919FC7E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FB181-4394-4F49-B82A-3327EFEF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13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35870-951E-4739-A778-02E747A7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3381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0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真实截图待补充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闹钟编辑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845ED-45E6-41DD-8E18-4574D6A4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57375"/>
            <a:ext cx="3381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0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真实截图待补充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铃声选择 / 试听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2BA70-EA7E-4E45-A0FB-8BC1937F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857375"/>
            <a:ext cx="3381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0"/>
          </a:solidFill>
          <a:ln xmlns:a="http://schemas.openxmlformats.org/drawingml/2006/main" w="9525">
            <a:solidFill>
              <a:srgbClr val="C5D8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真实截图待补充</a:t>
            </a:r>
          </a:p>
          <a:p xmlns:a="http://schemas.openxmlformats.org/drawingml/2006/main">
            <a:pPr algn="ctr">
              <a:def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完成页面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89B20-F7C5-46F3-A71C-DD563AB1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57725"/>
            <a:ext cx="338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闹钟设置与多页面切换</a:t>
            </a:r>
          </a:p>
          <a:p xmlns:a="http://schemas.openxmlformats.org/drawingml/2006/main">
            <a:pPr>
              <a:def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QStackedWidget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1C9D4-442E-4BF4-9743-A3455349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57725"/>
            <a:ext cx="338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导入、试听、音量调整</a:t>
            </a:r>
          </a:p>
          <a:p xmlns:a="http://schemas.openxmlformats.org/drawingml/2006/main">
            <a:pPr>
              <a:def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QMediaPlayer 循环播放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BA9DD-80ED-49D2-8113-834C17C3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57725"/>
            <a:ext cx="338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进度与次数动画</a:t>
            </a:r>
          </a:p>
          <a:p xmlns:a="http://schemas.openxmlformats.org/drawingml/2006/main">
            <a:pPr>
              <a:def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QPainter / 属性动画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F39EE-3B57-4E6C-9AC2-4A11FD56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769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部分内置铃声由正弦波合成 WAV。</a:t>
            </a:r>
          </a:p>
        </p:txBody>
      </p:sp>
    </p:spTree>
    <p:extLst>
      <p:ext uri="{BB962C8B-B14F-4D97-AF65-F5344CB8AC3E}">
        <p14:creationId xmlns:p14="http://schemas.microsoft.com/office/powerpoint/2010/main" val="10510011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C46DD-98A4-4A7C-944C-CE586343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测试方案与结果展示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E9383-1704-49A3-99DF-045AF182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业务正确性与动作识别效果分开验证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C0A53-A2C1-4366-B81B-4D9184E3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0DD67-56E8-4E3E-A355-1BBC09F6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14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CFAA7-C29B-4D31-8127-262AEB5E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已有测试代码：会话约束、数据库迁移与去重、成就统计、响铃与稍后提醒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19125" y="2495550"/>
          <a:ext xmlns:a="http://schemas.openxmlformats.org/drawingml/2006/main" cx="108585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524000"/>
                <a:gridCol w="1524000"/>
                <a:gridCol w="1905000"/>
                <a:gridCol w="2476500"/>
              </a:tblGrid>
              <a:tr h="54483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测试场景</a:t>
                      </a:r>
                    </a:p>
                  </a:txBody>
                  <a:tcPr marL="91440" marR="91440" marT="45720" marB="45720">
                    <a:solidFill>
                      <a:srgbClr val="008D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人工次数</a:t>
                      </a:r>
                    </a:p>
                  </a:txBody>
                  <a:tcPr marL="91440" marR="91440" marT="45720" marB="45720">
                    <a:solidFill>
                      <a:srgbClr val="008D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程序次数</a:t>
                      </a:r>
                    </a:p>
                  </a:txBody>
                  <a:tcPr marL="91440" marR="91440" marT="45720" marB="45720">
                    <a:solidFill>
                      <a:srgbClr val="008D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误计 / 漏计</a:t>
                      </a:r>
                    </a:p>
                  </a:txBody>
                  <a:tcPr marL="91440" marR="91440" marT="45720" marB="45720">
                    <a:solidFill>
                      <a:srgbClr val="008D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观察结论</a:t>
                      </a:r>
                    </a:p>
                  </a:txBody>
                  <a:tcPr marL="91440" marR="91440" marT="45720" marB="45720">
                    <a:solidFill>
                      <a:srgbClr val="008D80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深蹲：标准动作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待标注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待测试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待测试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待测试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开合跳：标准动作</a:t>
                      </a:r>
                    </a:p>
                  </a:txBody>
                  <a:tcPr marL="91440" marR="91440" marT="45720" marB="45720">
                    <a:solidFill>
                      <a:srgbClr val="E2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待标注</a:t>
                      </a:r>
                    </a:p>
                  </a:txBody>
                  <a:tcPr marL="91440" marR="91440" marT="45720" marB="45720">
                    <a:solidFill>
                      <a:srgbClr val="E2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待测试</a:t>
                      </a:r>
                    </a:p>
                  </a:txBody>
                  <a:tcPr marL="91440" marR="91440" marT="45720" marB="45720">
                    <a:solidFill>
                      <a:srgbClr val="E2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待测试</a:t>
                      </a:r>
                    </a:p>
                  </a:txBody>
                  <a:tcPr marL="91440" marR="91440" marT="45720" marB="45720">
                    <a:solidFill>
                      <a:srgbClr val="E2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待测试</a:t>
                      </a:r>
                    </a:p>
                  </a:txBody>
                  <a:tcPr marL="91440" marR="91440" marT="45720" marB="45720">
                    <a:solidFill>
                      <a:srgbClr val="E2F2EE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蹬腿：局部身体入镜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待标注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待测试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待测试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待测试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遮挡 / 幅度 / 角度变化</a:t>
                      </a:r>
                    </a:p>
                  </a:txBody>
                  <a:tcPr marL="91440" marR="91440" marT="45720" marB="45720">
                    <a:solidFill>
                      <a:srgbClr val="E2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待标注</a:t>
                      </a:r>
                    </a:p>
                  </a:txBody>
                  <a:tcPr marL="91440" marR="91440" marT="45720" marB="45720">
                    <a:solidFill>
                      <a:srgbClr val="E2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待测试</a:t>
                      </a:r>
                    </a:p>
                  </a:txBody>
                  <a:tcPr marL="91440" marR="91440" marT="45720" marB="45720">
                    <a:solidFill>
                      <a:srgbClr val="E2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待测试</a:t>
                      </a:r>
                    </a:p>
                  </a:txBody>
                  <a:tcPr marL="91440" marR="91440" marT="45720" marB="45720">
                    <a:solidFill>
                      <a:srgbClr val="E2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936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待测试</a:t>
                      </a:r>
                    </a:p>
                  </a:txBody>
                  <a:tcPr marL="91440" marR="91440" marT="45720" marB="45720">
                    <a:solidFill>
                      <a:srgbClr val="E2F2EE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7ED28-F9EA-4B1A-A28B-C25EC66D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864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固定视频 → 人工标注 → 程序计数 → CSV 定位误计与漏计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5D393-17DB-4CE1-B67E-AFABB93B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817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A26C24"/>
                </a:solidFill>
                <a:latin typeface="Noto Sans CJK SC"/>
                <a:ea typeface="Noto Sans CJK SC"/>
                <a:cs typeface="Noto Sans CJK SC"/>
              </a:rPr>
              <a:t>执行状态：待测试。现有测试代码不能证明识别准确率。</a:t>
            </a:r>
          </a:p>
        </p:txBody>
      </p:sp>
    </p:spTree>
    <p:extLst>
      <p:ext uri="{BB962C8B-B14F-4D97-AF65-F5344CB8AC3E}">
        <p14:creationId xmlns:p14="http://schemas.microsoft.com/office/powerpoint/2010/main" val="20099224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791B7-5C10-4315-B167-D0EAB127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项目总结与后续改进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A6BC2-A803-43C5-AC8D-3F4FA500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实现姿态计数与闹钟业务闭环，下一步补齐适应性与实测证据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D4FC2-74B7-4B44-AD11-FE633516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WakeAI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B595C-EB2C-4309-A257-550D27C3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15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72ECF-6894-4661-90C4-DE5A7E46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已实现（依据静态分析）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6A8D2-7BB5-4096-8DEF-46C56E4A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5095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多闹钟与运动解锁流程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三种动作的规则和状态机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后台识别、暂停与实时反馈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本地记录、统计与成就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144CE-B7A9-4A23-B6CC-6A46C757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后续改进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7E29C-3C6F-4649-9DE3-27AF5A8D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0300"/>
            <a:ext cx="5191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多人：稳定人物跟踪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视角：改进自适应标定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帧率：用时间替代部分帧数限制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验证：建立人工标注视频集</a:t>
            </a:r>
          </a:p>
          <a:p xmlns:a="http://schemas.openxmlformats.org/drawingml/2006/main">
            <a:pPr>
              <a:def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756F"/>
                </a:solidFill>
                <a:latin typeface="Noto Sans CJK SC"/>
                <a:ea typeface="Noto Sans CJK SC"/>
                <a:cs typeface="Noto Sans CJK SC"/>
              </a:rPr>
              <a:t>运行：评估系统级唤醒与后台支持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CC0A9-5E92-4460-9844-27ED8317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8D80"/>
                </a:solidFill>
                <a:latin typeface="Noto Sans CJK SC"/>
                <a:ea typeface="Noto Sans CJK SC"/>
                <a:cs typeface="Noto Sans CJK SC"/>
              </a:rPr>
              <a:t>可解释的计数规则 + 会话约束 + 数据库去重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BCC63-C64B-4B7E-A886-B8AEE827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让姿态识别从画面中的关键点，</a:t>
            </a:r>
          </a:p>
          <a:p xmlns:a="http://schemas.openxmlformats.org/drawingml/2006/main">
            <a:pPr>
              <a:defRPr sz="232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43936"/>
                </a:solidFill>
                <a:latin typeface="Noto Sans CJK SC"/>
                <a:ea typeface="Noto Sans CJK SC"/>
                <a:cs typeface="Noto Sans CJK SC"/>
              </a:rPr>
              <a:t>走向一个完整的日常应用。</a:t>
            </a:r>
          </a:p>
        </p:txBody>
      </p:sp>
    </p:spTree>
    <p:extLst>
      <p:ext uri="{BB962C8B-B14F-4D97-AF65-F5344CB8AC3E}">
        <p14:creationId xmlns:p14="http://schemas.microsoft.com/office/powerpoint/2010/main" val="1567212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2026-09-17T02:42:10.9080000Z</dcterms:created>
  <dcterms:modified xsi:type="dcterms:W3CDTF">2026-09-17T02:42:10.9080000Z</dcterms:modified>
</coreProperties>
</file>